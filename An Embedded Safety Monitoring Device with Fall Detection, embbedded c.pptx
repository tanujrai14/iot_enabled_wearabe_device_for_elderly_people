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67E445-4B55-4328-A462-1D139E95E277}" v="9" dt="2026-04-06T16:59:08.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82EAE6-2661-47DA-88CB-847792AC8DFE}"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ADE9A1C5-CF5C-4F0B-A32E-9E01F618DCD2}">
      <dgm:prSet custT="1"/>
      <dgm:spPr/>
      <dgm:t>
        <a:bodyPr/>
        <a:lstStyle/>
        <a:p>
          <a:r>
            <a:rPr lang="en-US" sz="2000">
              <a:latin typeface="Times New Roman" panose="02020603050405020304" pitchFamily="18" charset="0"/>
              <a:cs typeface="Times New Roman" panose="02020603050405020304" pitchFamily="18" charset="0"/>
            </a:rPr>
            <a:t>A smart, multi-user safety and tracking system designed for elderly and patient monitoring. </a:t>
          </a:r>
        </a:p>
      </dgm:t>
    </dgm:pt>
    <dgm:pt modelId="{A8E156ED-8064-4D53-A7DF-3E6F84AE1373}" type="parTrans" cxnId="{291F8E54-8F5D-43D5-A6FC-C98D8834B33D}">
      <dgm:prSet/>
      <dgm:spPr/>
      <dgm:t>
        <a:bodyPr/>
        <a:lstStyle/>
        <a:p>
          <a:endParaRPr lang="en-US"/>
        </a:p>
      </dgm:t>
    </dgm:pt>
    <dgm:pt modelId="{4187A8AC-6A04-49F6-8DB4-79D45D634C8A}" type="sibTrans" cxnId="{291F8E54-8F5D-43D5-A6FC-C98D8834B33D}">
      <dgm:prSet/>
      <dgm:spPr/>
      <dgm:t>
        <a:bodyPr/>
        <a:lstStyle/>
        <a:p>
          <a:endParaRPr lang="en-US"/>
        </a:p>
      </dgm:t>
    </dgm:pt>
    <dgm:pt modelId="{433D385C-7B84-4F95-AF6B-90C0FA71DD68}">
      <dgm:prSet custT="1"/>
      <dgm:spPr/>
      <dgm:t>
        <a:bodyPr/>
        <a:lstStyle/>
        <a:p>
          <a:r>
            <a:rPr lang="en-US" sz="2000">
              <a:latin typeface="Times New Roman" panose="02020603050405020304" pitchFamily="18" charset="0"/>
              <a:cs typeface="Times New Roman" panose="02020603050405020304" pitchFamily="18" charset="0"/>
            </a:rPr>
            <a:t>RFID-based user identification to uniquely recognize each individual. </a:t>
          </a:r>
        </a:p>
      </dgm:t>
    </dgm:pt>
    <dgm:pt modelId="{1EF81600-AE2E-4C82-9D8F-BF89264F796E}" type="parTrans" cxnId="{63019646-33AC-4C3E-B25A-FCF259038DCD}">
      <dgm:prSet/>
      <dgm:spPr/>
      <dgm:t>
        <a:bodyPr/>
        <a:lstStyle/>
        <a:p>
          <a:endParaRPr lang="en-US"/>
        </a:p>
      </dgm:t>
    </dgm:pt>
    <dgm:pt modelId="{CD6680CC-E0D4-4A81-8A1F-95C464366F7F}" type="sibTrans" cxnId="{63019646-33AC-4C3E-B25A-FCF259038DCD}">
      <dgm:prSet/>
      <dgm:spPr/>
      <dgm:t>
        <a:bodyPr/>
        <a:lstStyle/>
        <a:p>
          <a:endParaRPr lang="en-US"/>
        </a:p>
      </dgm:t>
    </dgm:pt>
    <dgm:pt modelId="{552121B2-0553-4308-82CF-656A74DC10A0}">
      <dgm:prSet custT="1"/>
      <dgm:spPr/>
      <dgm:t>
        <a:bodyPr/>
        <a:lstStyle/>
        <a:p>
          <a:r>
            <a:rPr lang="en-US" sz="2000">
              <a:latin typeface="Times New Roman" panose="02020603050405020304" pitchFamily="18" charset="0"/>
              <a:cs typeface="Times New Roman" panose="02020603050405020304" pitchFamily="18" charset="0"/>
            </a:rPr>
            <a:t>GPS module for real-time location tracking. </a:t>
          </a:r>
        </a:p>
      </dgm:t>
    </dgm:pt>
    <dgm:pt modelId="{A2F3173B-CC91-4238-953A-FA24930DC734}" type="parTrans" cxnId="{0D1A3E56-31C6-4AC1-9915-8AD22169EF79}">
      <dgm:prSet/>
      <dgm:spPr/>
      <dgm:t>
        <a:bodyPr/>
        <a:lstStyle/>
        <a:p>
          <a:endParaRPr lang="en-US"/>
        </a:p>
      </dgm:t>
    </dgm:pt>
    <dgm:pt modelId="{FEC15525-ACD3-4529-BCF2-AC52DA16A7F5}" type="sibTrans" cxnId="{0D1A3E56-31C6-4AC1-9915-8AD22169EF79}">
      <dgm:prSet/>
      <dgm:spPr/>
      <dgm:t>
        <a:bodyPr/>
        <a:lstStyle/>
        <a:p>
          <a:endParaRPr lang="en-US"/>
        </a:p>
      </dgm:t>
    </dgm:pt>
    <dgm:pt modelId="{A37159E0-A3E0-497B-8AED-8F65B4364447}">
      <dgm:prSet custT="1"/>
      <dgm:spPr/>
      <dgm:t>
        <a:bodyPr/>
        <a:lstStyle/>
        <a:p>
          <a:r>
            <a:rPr lang="en-US" sz="2000" dirty="0">
              <a:latin typeface="Times New Roman" panose="02020603050405020304" pitchFamily="18" charset="0"/>
              <a:cs typeface="Times New Roman" panose="02020603050405020304" pitchFamily="18" charset="0"/>
            </a:rPr>
            <a:t>MPU6050 sensor for continuous motion monitoring and fall detection. </a:t>
          </a:r>
        </a:p>
      </dgm:t>
    </dgm:pt>
    <dgm:pt modelId="{240CDA1B-1D1A-49E4-A017-31084A0E65BB}" type="parTrans" cxnId="{E5E43952-D010-4133-8083-E39D448258A8}">
      <dgm:prSet/>
      <dgm:spPr/>
      <dgm:t>
        <a:bodyPr/>
        <a:lstStyle/>
        <a:p>
          <a:endParaRPr lang="en-US"/>
        </a:p>
      </dgm:t>
    </dgm:pt>
    <dgm:pt modelId="{0F40386A-A3D1-4D78-A2C0-37A459592E94}" type="sibTrans" cxnId="{E5E43952-D010-4133-8083-E39D448258A8}">
      <dgm:prSet/>
      <dgm:spPr/>
      <dgm:t>
        <a:bodyPr/>
        <a:lstStyle/>
        <a:p>
          <a:endParaRPr lang="en-US"/>
        </a:p>
      </dgm:t>
    </dgm:pt>
    <dgm:pt modelId="{3549B73E-A6D1-4835-BBB5-644FB2F28D58}">
      <dgm:prSet custT="1"/>
      <dgm:spPr/>
      <dgm:t>
        <a:bodyPr/>
        <a:lstStyle/>
        <a:p>
          <a:r>
            <a:rPr lang="en-US" sz="2000">
              <a:latin typeface="Times New Roman" panose="02020603050405020304" pitchFamily="18" charset="0"/>
              <a:cs typeface="Times New Roman" panose="02020603050405020304" pitchFamily="18" charset="0"/>
            </a:rPr>
            <a:t>Geofencing implemented using the Haversine formula for indoor and outdoor safety zones. </a:t>
          </a:r>
        </a:p>
      </dgm:t>
    </dgm:pt>
    <dgm:pt modelId="{9535DABF-954F-45BD-8686-57C25E88F153}" type="parTrans" cxnId="{3865C432-B64D-4A97-A3DC-5A25D5E62C2C}">
      <dgm:prSet/>
      <dgm:spPr/>
      <dgm:t>
        <a:bodyPr/>
        <a:lstStyle/>
        <a:p>
          <a:endParaRPr lang="en-US"/>
        </a:p>
      </dgm:t>
    </dgm:pt>
    <dgm:pt modelId="{39C517D1-F593-4D8B-B60C-C3128D60999F}" type="sibTrans" cxnId="{3865C432-B64D-4A97-A3DC-5A25D5E62C2C}">
      <dgm:prSet/>
      <dgm:spPr/>
      <dgm:t>
        <a:bodyPr/>
        <a:lstStyle/>
        <a:p>
          <a:endParaRPr lang="en-US"/>
        </a:p>
      </dgm:t>
    </dgm:pt>
    <dgm:pt modelId="{96832510-3948-42EA-81E9-4ADFF4D6EE93}">
      <dgm:prSet custT="1"/>
      <dgm:spPr/>
      <dgm:t>
        <a:bodyPr/>
        <a:lstStyle/>
        <a:p>
          <a:r>
            <a:rPr lang="en-US" sz="2000">
              <a:latin typeface="Times New Roman" panose="02020603050405020304" pitchFamily="18" charset="0"/>
              <a:cs typeface="Times New Roman" panose="02020603050405020304" pitchFamily="18" charset="0"/>
            </a:rPr>
            <a:t>Buzzer alerts triggered during falls or when a user exits the defined geofence. </a:t>
          </a:r>
        </a:p>
      </dgm:t>
    </dgm:pt>
    <dgm:pt modelId="{B62A42B9-F49E-4514-9A8E-022A37FF7FCC}" type="parTrans" cxnId="{0F4D2C35-EF35-44D2-8D6B-C8D481F6CB0B}">
      <dgm:prSet/>
      <dgm:spPr/>
      <dgm:t>
        <a:bodyPr/>
        <a:lstStyle/>
        <a:p>
          <a:endParaRPr lang="en-US"/>
        </a:p>
      </dgm:t>
    </dgm:pt>
    <dgm:pt modelId="{1D4C5821-9C27-454D-8A56-8D315E395DF4}" type="sibTrans" cxnId="{0F4D2C35-EF35-44D2-8D6B-C8D481F6CB0B}">
      <dgm:prSet/>
      <dgm:spPr/>
      <dgm:t>
        <a:bodyPr/>
        <a:lstStyle/>
        <a:p>
          <a:endParaRPr lang="en-US"/>
        </a:p>
      </dgm:t>
    </dgm:pt>
    <dgm:pt modelId="{8F204867-9F5A-482C-A7E1-6F51B737D146}">
      <dgm:prSet custT="1"/>
      <dgm:spPr/>
      <dgm:t>
        <a:bodyPr/>
        <a:lstStyle/>
        <a:p>
          <a:r>
            <a:rPr lang="en-US" sz="2000">
              <a:latin typeface="Times New Roman" panose="02020603050405020304" pitchFamily="18" charset="0"/>
              <a:cs typeface="Times New Roman" panose="02020603050405020304" pitchFamily="18" charset="0"/>
            </a:rPr>
            <a:t>Wi‑Fi enabled live monitoring dashboard for caregivers. </a:t>
          </a:r>
        </a:p>
      </dgm:t>
    </dgm:pt>
    <dgm:pt modelId="{0F48879E-5B7C-457C-9AEC-8BDE47717F9F}" type="parTrans" cxnId="{5939564D-E7E9-4CCC-9381-A2364D35C7E1}">
      <dgm:prSet/>
      <dgm:spPr/>
      <dgm:t>
        <a:bodyPr/>
        <a:lstStyle/>
        <a:p>
          <a:endParaRPr lang="en-US"/>
        </a:p>
      </dgm:t>
    </dgm:pt>
    <dgm:pt modelId="{0143B34D-6FFF-435D-BBA8-799CD1C74639}" type="sibTrans" cxnId="{5939564D-E7E9-4CCC-9381-A2364D35C7E1}">
      <dgm:prSet/>
      <dgm:spPr/>
      <dgm:t>
        <a:bodyPr/>
        <a:lstStyle/>
        <a:p>
          <a:endParaRPr lang="en-US"/>
        </a:p>
      </dgm:t>
    </dgm:pt>
    <dgm:pt modelId="{B156043F-1ED0-4F2B-84AF-4D6E114D4679}">
      <dgm:prSet custT="1"/>
      <dgm:spPr/>
      <dgm:t>
        <a:bodyPr/>
        <a:lstStyle/>
        <a:p>
          <a:r>
            <a:rPr lang="en-US" sz="2000" dirty="0">
              <a:latin typeface="Times New Roman" panose="02020603050405020304" pitchFamily="18" charset="0"/>
              <a:cs typeface="Times New Roman" panose="02020603050405020304" pitchFamily="18" charset="0"/>
            </a:rPr>
            <a:t>Secure storage of the last known location for each user to ensure traceability.</a:t>
          </a:r>
        </a:p>
      </dgm:t>
    </dgm:pt>
    <dgm:pt modelId="{4AACBAE4-A08F-4864-9A31-B4BD369220DE}" type="parTrans" cxnId="{908B9A4A-AC7E-415D-8F3E-3265C03D8B7C}">
      <dgm:prSet/>
      <dgm:spPr/>
      <dgm:t>
        <a:bodyPr/>
        <a:lstStyle/>
        <a:p>
          <a:endParaRPr lang="en-US"/>
        </a:p>
      </dgm:t>
    </dgm:pt>
    <dgm:pt modelId="{A940800C-4F3E-493A-A18A-F18D71EAF6B7}" type="sibTrans" cxnId="{908B9A4A-AC7E-415D-8F3E-3265C03D8B7C}">
      <dgm:prSet/>
      <dgm:spPr/>
      <dgm:t>
        <a:bodyPr/>
        <a:lstStyle/>
        <a:p>
          <a:endParaRPr lang="en-US"/>
        </a:p>
      </dgm:t>
    </dgm:pt>
    <dgm:pt modelId="{326F032C-F707-41A0-B8CE-A9A0AF1C7AFD}" type="pres">
      <dgm:prSet presAssocID="{4F82EAE6-2661-47DA-88CB-847792AC8DFE}" presName="linear" presStyleCnt="0">
        <dgm:presLayoutVars>
          <dgm:animLvl val="lvl"/>
          <dgm:resizeHandles val="exact"/>
        </dgm:presLayoutVars>
      </dgm:prSet>
      <dgm:spPr/>
    </dgm:pt>
    <dgm:pt modelId="{D4173BE1-CA3A-4881-9618-B3C4B45A8EB9}" type="pres">
      <dgm:prSet presAssocID="{ADE9A1C5-CF5C-4F0B-A32E-9E01F618DCD2}" presName="parentText" presStyleLbl="node1" presStyleIdx="0" presStyleCnt="8">
        <dgm:presLayoutVars>
          <dgm:chMax val="0"/>
          <dgm:bulletEnabled val="1"/>
        </dgm:presLayoutVars>
      </dgm:prSet>
      <dgm:spPr/>
    </dgm:pt>
    <dgm:pt modelId="{51FCBCDE-FC0B-41EC-BD1A-7EF2F4C06BDA}" type="pres">
      <dgm:prSet presAssocID="{4187A8AC-6A04-49F6-8DB4-79D45D634C8A}" presName="spacer" presStyleCnt="0"/>
      <dgm:spPr/>
    </dgm:pt>
    <dgm:pt modelId="{4BA6AA06-3C38-459F-A0BA-86A987E3135E}" type="pres">
      <dgm:prSet presAssocID="{433D385C-7B84-4F95-AF6B-90C0FA71DD68}" presName="parentText" presStyleLbl="node1" presStyleIdx="1" presStyleCnt="8">
        <dgm:presLayoutVars>
          <dgm:chMax val="0"/>
          <dgm:bulletEnabled val="1"/>
        </dgm:presLayoutVars>
      </dgm:prSet>
      <dgm:spPr/>
    </dgm:pt>
    <dgm:pt modelId="{B411911D-E278-4F89-90B5-0C0CCC67295C}" type="pres">
      <dgm:prSet presAssocID="{CD6680CC-E0D4-4A81-8A1F-95C464366F7F}" presName="spacer" presStyleCnt="0"/>
      <dgm:spPr/>
    </dgm:pt>
    <dgm:pt modelId="{E62D8A46-2C5C-4827-91D3-8C3210C06BC7}" type="pres">
      <dgm:prSet presAssocID="{552121B2-0553-4308-82CF-656A74DC10A0}" presName="parentText" presStyleLbl="node1" presStyleIdx="2" presStyleCnt="8">
        <dgm:presLayoutVars>
          <dgm:chMax val="0"/>
          <dgm:bulletEnabled val="1"/>
        </dgm:presLayoutVars>
      </dgm:prSet>
      <dgm:spPr/>
    </dgm:pt>
    <dgm:pt modelId="{C501A70F-8D06-4598-B742-F4C1806DDCBC}" type="pres">
      <dgm:prSet presAssocID="{FEC15525-ACD3-4529-BCF2-AC52DA16A7F5}" presName="spacer" presStyleCnt="0"/>
      <dgm:spPr/>
    </dgm:pt>
    <dgm:pt modelId="{059DA324-E7E7-4A0E-BD7E-D08507ADEADF}" type="pres">
      <dgm:prSet presAssocID="{A37159E0-A3E0-497B-8AED-8F65B4364447}" presName="parentText" presStyleLbl="node1" presStyleIdx="3" presStyleCnt="8">
        <dgm:presLayoutVars>
          <dgm:chMax val="0"/>
          <dgm:bulletEnabled val="1"/>
        </dgm:presLayoutVars>
      </dgm:prSet>
      <dgm:spPr/>
    </dgm:pt>
    <dgm:pt modelId="{CB0DA973-FAB7-4F68-BD02-E9C6CC336CAC}" type="pres">
      <dgm:prSet presAssocID="{0F40386A-A3D1-4D78-A2C0-37A459592E94}" presName="spacer" presStyleCnt="0"/>
      <dgm:spPr/>
    </dgm:pt>
    <dgm:pt modelId="{12E9C70C-E446-4BAB-840F-B6AB477BD716}" type="pres">
      <dgm:prSet presAssocID="{3549B73E-A6D1-4835-BBB5-644FB2F28D58}" presName="parentText" presStyleLbl="node1" presStyleIdx="4" presStyleCnt="8">
        <dgm:presLayoutVars>
          <dgm:chMax val="0"/>
          <dgm:bulletEnabled val="1"/>
        </dgm:presLayoutVars>
      </dgm:prSet>
      <dgm:spPr/>
    </dgm:pt>
    <dgm:pt modelId="{FA2B0E11-0325-428F-989D-00BA3A923218}" type="pres">
      <dgm:prSet presAssocID="{39C517D1-F593-4D8B-B60C-C3128D60999F}" presName="spacer" presStyleCnt="0"/>
      <dgm:spPr/>
    </dgm:pt>
    <dgm:pt modelId="{969FAFC1-E12D-4FCB-937F-DFD5477B9759}" type="pres">
      <dgm:prSet presAssocID="{96832510-3948-42EA-81E9-4ADFF4D6EE93}" presName="parentText" presStyleLbl="node1" presStyleIdx="5" presStyleCnt="8">
        <dgm:presLayoutVars>
          <dgm:chMax val="0"/>
          <dgm:bulletEnabled val="1"/>
        </dgm:presLayoutVars>
      </dgm:prSet>
      <dgm:spPr/>
    </dgm:pt>
    <dgm:pt modelId="{1E820BE6-0483-467F-BE1B-F98C8E53D007}" type="pres">
      <dgm:prSet presAssocID="{1D4C5821-9C27-454D-8A56-8D315E395DF4}" presName="spacer" presStyleCnt="0"/>
      <dgm:spPr/>
    </dgm:pt>
    <dgm:pt modelId="{54C91126-662B-479E-9F50-2849EE0DCEE5}" type="pres">
      <dgm:prSet presAssocID="{8F204867-9F5A-482C-A7E1-6F51B737D146}" presName="parentText" presStyleLbl="node1" presStyleIdx="6" presStyleCnt="8">
        <dgm:presLayoutVars>
          <dgm:chMax val="0"/>
          <dgm:bulletEnabled val="1"/>
        </dgm:presLayoutVars>
      </dgm:prSet>
      <dgm:spPr/>
    </dgm:pt>
    <dgm:pt modelId="{30B57831-C61E-4B81-94A8-25B8AFC39338}" type="pres">
      <dgm:prSet presAssocID="{0143B34D-6FFF-435D-BBA8-799CD1C74639}" presName="spacer" presStyleCnt="0"/>
      <dgm:spPr/>
    </dgm:pt>
    <dgm:pt modelId="{97AB5348-DA91-431E-B38D-8AB62F290D88}" type="pres">
      <dgm:prSet presAssocID="{B156043F-1ED0-4F2B-84AF-4D6E114D4679}" presName="parentText" presStyleLbl="node1" presStyleIdx="7" presStyleCnt="8">
        <dgm:presLayoutVars>
          <dgm:chMax val="0"/>
          <dgm:bulletEnabled val="1"/>
        </dgm:presLayoutVars>
      </dgm:prSet>
      <dgm:spPr/>
    </dgm:pt>
  </dgm:ptLst>
  <dgm:cxnLst>
    <dgm:cxn modelId="{20E1D416-8689-4D75-85CB-66F69246E5B9}" type="presOf" srcId="{A37159E0-A3E0-497B-8AED-8F65B4364447}" destId="{059DA324-E7E7-4A0E-BD7E-D08507ADEADF}" srcOrd="0" destOrd="0" presId="urn:microsoft.com/office/officeart/2005/8/layout/vList2"/>
    <dgm:cxn modelId="{7BC0331B-6E33-4468-9F0D-FDD614BDF170}" type="presOf" srcId="{4F82EAE6-2661-47DA-88CB-847792AC8DFE}" destId="{326F032C-F707-41A0-B8CE-A9A0AF1C7AFD}" srcOrd="0" destOrd="0" presId="urn:microsoft.com/office/officeart/2005/8/layout/vList2"/>
    <dgm:cxn modelId="{80795B29-7FD6-49D7-82EE-E842D8CD5329}" type="presOf" srcId="{552121B2-0553-4308-82CF-656A74DC10A0}" destId="{E62D8A46-2C5C-4827-91D3-8C3210C06BC7}" srcOrd="0" destOrd="0" presId="urn:microsoft.com/office/officeart/2005/8/layout/vList2"/>
    <dgm:cxn modelId="{3865C432-B64D-4A97-A3DC-5A25D5E62C2C}" srcId="{4F82EAE6-2661-47DA-88CB-847792AC8DFE}" destId="{3549B73E-A6D1-4835-BBB5-644FB2F28D58}" srcOrd="4" destOrd="0" parTransId="{9535DABF-954F-45BD-8686-57C25E88F153}" sibTransId="{39C517D1-F593-4D8B-B60C-C3128D60999F}"/>
    <dgm:cxn modelId="{0F4D2C35-EF35-44D2-8D6B-C8D481F6CB0B}" srcId="{4F82EAE6-2661-47DA-88CB-847792AC8DFE}" destId="{96832510-3948-42EA-81E9-4ADFF4D6EE93}" srcOrd="5" destOrd="0" parTransId="{B62A42B9-F49E-4514-9A8E-022A37FF7FCC}" sibTransId="{1D4C5821-9C27-454D-8A56-8D315E395DF4}"/>
    <dgm:cxn modelId="{63019646-33AC-4C3E-B25A-FCF259038DCD}" srcId="{4F82EAE6-2661-47DA-88CB-847792AC8DFE}" destId="{433D385C-7B84-4F95-AF6B-90C0FA71DD68}" srcOrd="1" destOrd="0" parTransId="{1EF81600-AE2E-4C82-9D8F-BF89264F796E}" sibTransId="{CD6680CC-E0D4-4A81-8A1F-95C464366F7F}"/>
    <dgm:cxn modelId="{908B9A4A-AC7E-415D-8F3E-3265C03D8B7C}" srcId="{4F82EAE6-2661-47DA-88CB-847792AC8DFE}" destId="{B156043F-1ED0-4F2B-84AF-4D6E114D4679}" srcOrd="7" destOrd="0" parTransId="{4AACBAE4-A08F-4864-9A31-B4BD369220DE}" sibTransId="{A940800C-4F3E-493A-A18A-F18D71EAF6B7}"/>
    <dgm:cxn modelId="{DBB95A6B-863F-4058-B92E-7DB1F0BA7ECB}" type="presOf" srcId="{96832510-3948-42EA-81E9-4ADFF4D6EE93}" destId="{969FAFC1-E12D-4FCB-937F-DFD5477B9759}" srcOrd="0" destOrd="0" presId="urn:microsoft.com/office/officeart/2005/8/layout/vList2"/>
    <dgm:cxn modelId="{5A94A14B-A0DB-4EB3-8F1C-6FB07761A5F2}" type="presOf" srcId="{ADE9A1C5-CF5C-4F0B-A32E-9E01F618DCD2}" destId="{D4173BE1-CA3A-4881-9618-B3C4B45A8EB9}" srcOrd="0" destOrd="0" presId="urn:microsoft.com/office/officeart/2005/8/layout/vList2"/>
    <dgm:cxn modelId="{5939564D-E7E9-4CCC-9381-A2364D35C7E1}" srcId="{4F82EAE6-2661-47DA-88CB-847792AC8DFE}" destId="{8F204867-9F5A-482C-A7E1-6F51B737D146}" srcOrd="6" destOrd="0" parTransId="{0F48879E-5B7C-457C-9AEC-8BDE47717F9F}" sibTransId="{0143B34D-6FFF-435D-BBA8-799CD1C74639}"/>
    <dgm:cxn modelId="{E5E43952-D010-4133-8083-E39D448258A8}" srcId="{4F82EAE6-2661-47DA-88CB-847792AC8DFE}" destId="{A37159E0-A3E0-497B-8AED-8F65B4364447}" srcOrd="3" destOrd="0" parTransId="{240CDA1B-1D1A-49E4-A017-31084A0E65BB}" sibTransId="{0F40386A-A3D1-4D78-A2C0-37A459592E94}"/>
    <dgm:cxn modelId="{291F8E54-8F5D-43D5-A6FC-C98D8834B33D}" srcId="{4F82EAE6-2661-47DA-88CB-847792AC8DFE}" destId="{ADE9A1C5-CF5C-4F0B-A32E-9E01F618DCD2}" srcOrd="0" destOrd="0" parTransId="{A8E156ED-8064-4D53-A7DF-3E6F84AE1373}" sibTransId="{4187A8AC-6A04-49F6-8DB4-79D45D634C8A}"/>
    <dgm:cxn modelId="{0D1A3E56-31C6-4AC1-9915-8AD22169EF79}" srcId="{4F82EAE6-2661-47DA-88CB-847792AC8DFE}" destId="{552121B2-0553-4308-82CF-656A74DC10A0}" srcOrd="2" destOrd="0" parTransId="{A2F3173B-CC91-4238-953A-FA24930DC734}" sibTransId="{FEC15525-ACD3-4529-BCF2-AC52DA16A7F5}"/>
    <dgm:cxn modelId="{9A594E77-6E5C-4B62-AB5E-AED738CE2CD5}" type="presOf" srcId="{433D385C-7B84-4F95-AF6B-90C0FA71DD68}" destId="{4BA6AA06-3C38-459F-A0BA-86A987E3135E}" srcOrd="0" destOrd="0" presId="urn:microsoft.com/office/officeart/2005/8/layout/vList2"/>
    <dgm:cxn modelId="{E8A409A5-8F17-405C-A943-5586120C5949}" type="presOf" srcId="{B156043F-1ED0-4F2B-84AF-4D6E114D4679}" destId="{97AB5348-DA91-431E-B38D-8AB62F290D88}" srcOrd="0" destOrd="0" presId="urn:microsoft.com/office/officeart/2005/8/layout/vList2"/>
    <dgm:cxn modelId="{DD0896B1-EE00-4640-BB69-33A776A62D1D}" type="presOf" srcId="{8F204867-9F5A-482C-A7E1-6F51B737D146}" destId="{54C91126-662B-479E-9F50-2849EE0DCEE5}" srcOrd="0" destOrd="0" presId="urn:microsoft.com/office/officeart/2005/8/layout/vList2"/>
    <dgm:cxn modelId="{BA0CF3E6-BCF1-43E4-8910-FDCCDBF231C8}" type="presOf" srcId="{3549B73E-A6D1-4835-BBB5-644FB2F28D58}" destId="{12E9C70C-E446-4BAB-840F-B6AB477BD716}" srcOrd="0" destOrd="0" presId="urn:microsoft.com/office/officeart/2005/8/layout/vList2"/>
    <dgm:cxn modelId="{86D8DEE0-5411-41AD-8B28-117EC491BE55}" type="presParOf" srcId="{326F032C-F707-41A0-B8CE-A9A0AF1C7AFD}" destId="{D4173BE1-CA3A-4881-9618-B3C4B45A8EB9}" srcOrd="0" destOrd="0" presId="urn:microsoft.com/office/officeart/2005/8/layout/vList2"/>
    <dgm:cxn modelId="{FF7FF979-E137-4C5E-8471-C7FD58B17C0D}" type="presParOf" srcId="{326F032C-F707-41A0-B8CE-A9A0AF1C7AFD}" destId="{51FCBCDE-FC0B-41EC-BD1A-7EF2F4C06BDA}" srcOrd="1" destOrd="0" presId="urn:microsoft.com/office/officeart/2005/8/layout/vList2"/>
    <dgm:cxn modelId="{5DD59DFC-5AFF-49C3-9009-6DCBA8B9C671}" type="presParOf" srcId="{326F032C-F707-41A0-B8CE-A9A0AF1C7AFD}" destId="{4BA6AA06-3C38-459F-A0BA-86A987E3135E}" srcOrd="2" destOrd="0" presId="urn:microsoft.com/office/officeart/2005/8/layout/vList2"/>
    <dgm:cxn modelId="{27EF70A1-604F-4E6F-8AB6-13BDBEE3AC0C}" type="presParOf" srcId="{326F032C-F707-41A0-B8CE-A9A0AF1C7AFD}" destId="{B411911D-E278-4F89-90B5-0C0CCC67295C}" srcOrd="3" destOrd="0" presId="urn:microsoft.com/office/officeart/2005/8/layout/vList2"/>
    <dgm:cxn modelId="{A2934F3D-9495-43E2-940C-7AB5549DF3D5}" type="presParOf" srcId="{326F032C-F707-41A0-B8CE-A9A0AF1C7AFD}" destId="{E62D8A46-2C5C-4827-91D3-8C3210C06BC7}" srcOrd="4" destOrd="0" presId="urn:microsoft.com/office/officeart/2005/8/layout/vList2"/>
    <dgm:cxn modelId="{AAEB59F6-3DF7-4C71-A296-A3EDD793371F}" type="presParOf" srcId="{326F032C-F707-41A0-B8CE-A9A0AF1C7AFD}" destId="{C501A70F-8D06-4598-B742-F4C1806DDCBC}" srcOrd="5" destOrd="0" presId="urn:microsoft.com/office/officeart/2005/8/layout/vList2"/>
    <dgm:cxn modelId="{AB4871C2-96C7-4EE7-8B68-354708270A29}" type="presParOf" srcId="{326F032C-F707-41A0-B8CE-A9A0AF1C7AFD}" destId="{059DA324-E7E7-4A0E-BD7E-D08507ADEADF}" srcOrd="6" destOrd="0" presId="urn:microsoft.com/office/officeart/2005/8/layout/vList2"/>
    <dgm:cxn modelId="{6C17061C-B2B7-4B34-B260-AE17DF2E36C3}" type="presParOf" srcId="{326F032C-F707-41A0-B8CE-A9A0AF1C7AFD}" destId="{CB0DA973-FAB7-4F68-BD02-E9C6CC336CAC}" srcOrd="7" destOrd="0" presId="urn:microsoft.com/office/officeart/2005/8/layout/vList2"/>
    <dgm:cxn modelId="{39963A68-2E16-46EF-BBD4-733E4AA0186C}" type="presParOf" srcId="{326F032C-F707-41A0-B8CE-A9A0AF1C7AFD}" destId="{12E9C70C-E446-4BAB-840F-B6AB477BD716}" srcOrd="8" destOrd="0" presId="urn:microsoft.com/office/officeart/2005/8/layout/vList2"/>
    <dgm:cxn modelId="{C836997B-C6BF-4C63-AB77-2F767DAD661D}" type="presParOf" srcId="{326F032C-F707-41A0-B8CE-A9A0AF1C7AFD}" destId="{FA2B0E11-0325-428F-989D-00BA3A923218}" srcOrd="9" destOrd="0" presId="urn:microsoft.com/office/officeart/2005/8/layout/vList2"/>
    <dgm:cxn modelId="{3F891513-0162-4012-9F0E-ED49D8F5048F}" type="presParOf" srcId="{326F032C-F707-41A0-B8CE-A9A0AF1C7AFD}" destId="{969FAFC1-E12D-4FCB-937F-DFD5477B9759}" srcOrd="10" destOrd="0" presId="urn:microsoft.com/office/officeart/2005/8/layout/vList2"/>
    <dgm:cxn modelId="{6F032A65-F0C1-47F1-B274-CB26F156A823}" type="presParOf" srcId="{326F032C-F707-41A0-B8CE-A9A0AF1C7AFD}" destId="{1E820BE6-0483-467F-BE1B-F98C8E53D007}" srcOrd="11" destOrd="0" presId="urn:microsoft.com/office/officeart/2005/8/layout/vList2"/>
    <dgm:cxn modelId="{46FC47B6-291E-434D-A145-C512E5E5E174}" type="presParOf" srcId="{326F032C-F707-41A0-B8CE-A9A0AF1C7AFD}" destId="{54C91126-662B-479E-9F50-2849EE0DCEE5}" srcOrd="12" destOrd="0" presId="urn:microsoft.com/office/officeart/2005/8/layout/vList2"/>
    <dgm:cxn modelId="{ECDEFFAD-1E8F-4BA4-AF04-9C4C2C2639D2}" type="presParOf" srcId="{326F032C-F707-41A0-B8CE-A9A0AF1C7AFD}" destId="{30B57831-C61E-4B81-94A8-25B8AFC39338}" srcOrd="13" destOrd="0" presId="urn:microsoft.com/office/officeart/2005/8/layout/vList2"/>
    <dgm:cxn modelId="{352BEB3A-8493-41AD-A67F-073F8B8463F5}" type="presParOf" srcId="{326F032C-F707-41A0-B8CE-A9A0AF1C7AFD}" destId="{97AB5348-DA91-431E-B38D-8AB62F290D88}"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173BE1-CA3A-4881-9618-B3C4B45A8EB9}">
      <dsp:nvSpPr>
        <dsp:cNvPr id="0" name=""/>
        <dsp:cNvSpPr/>
      </dsp:nvSpPr>
      <dsp:spPr>
        <a:xfrm>
          <a:off x="0" y="111179"/>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A smart, multi-user safety and tracking system designed for elderly and patient monitoring. </a:t>
          </a:r>
        </a:p>
      </dsp:txBody>
      <dsp:txXfrm>
        <a:off x="33127" y="144306"/>
        <a:ext cx="6600579" cy="612346"/>
      </dsp:txXfrm>
    </dsp:sp>
    <dsp:sp modelId="{4BA6AA06-3C38-459F-A0BA-86A987E3135E}">
      <dsp:nvSpPr>
        <dsp:cNvPr id="0" name=""/>
        <dsp:cNvSpPr/>
      </dsp:nvSpPr>
      <dsp:spPr>
        <a:xfrm>
          <a:off x="0" y="804179"/>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RFID-based user identification to uniquely recognize each individual. </a:t>
          </a:r>
        </a:p>
      </dsp:txBody>
      <dsp:txXfrm>
        <a:off x="33127" y="837306"/>
        <a:ext cx="6600579" cy="612346"/>
      </dsp:txXfrm>
    </dsp:sp>
    <dsp:sp modelId="{E62D8A46-2C5C-4827-91D3-8C3210C06BC7}">
      <dsp:nvSpPr>
        <dsp:cNvPr id="0" name=""/>
        <dsp:cNvSpPr/>
      </dsp:nvSpPr>
      <dsp:spPr>
        <a:xfrm>
          <a:off x="0" y="1497179"/>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GPS module for real-time location tracking. </a:t>
          </a:r>
        </a:p>
      </dsp:txBody>
      <dsp:txXfrm>
        <a:off x="33127" y="1530306"/>
        <a:ext cx="6600579" cy="612346"/>
      </dsp:txXfrm>
    </dsp:sp>
    <dsp:sp modelId="{059DA324-E7E7-4A0E-BD7E-D08507ADEADF}">
      <dsp:nvSpPr>
        <dsp:cNvPr id="0" name=""/>
        <dsp:cNvSpPr/>
      </dsp:nvSpPr>
      <dsp:spPr>
        <a:xfrm>
          <a:off x="0" y="2190179"/>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MPU6050 sensor for continuous motion monitoring and fall detection. </a:t>
          </a:r>
        </a:p>
      </dsp:txBody>
      <dsp:txXfrm>
        <a:off x="33127" y="2223306"/>
        <a:ext cx="6600579" cy="612346"/>
      </dsp:txXfrm>
    </dsp:sp>
    <dsp:sp modelId="{12E9C70C-E446-4BAB-840F-B6AB477BD716}">
      <dsp:nvSpPr>
        <dsp:cNvPr id="0" name=""/>
        <dsp:cNvSpPr/>
      </dsp:nvSpPr>
      <dsp:spPr>
        <a:xfrm>
          <a:off x="0" y="2883179"/>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Geofencing implemented using the Haversine formula for indoor and outdoor safety zones. </a:t>
          </a:r>
        </a:p>
      </dsp:txBody>
      <dsp:txXfrm>
        <a:off x="33127" y="2916306"/>
        <a:ext cx="6600579" cy="612346"/>
      </dsp:txXfrm>
    </dsp:sp>
    <dsp:sp modelId="{969FAFC1-E12D-4FCB-937F-DFD5477B9759}">
      <dsp:nvSpPr>
        <dsp:cNvPr id="0" name=""/>
        <dsp:cNvSpPr/>
      </dsp:nvSpPr>
      <dsp:spPr>
        <a:xfrm>
          <a:off x="0" y="3576180"/>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Buzzer alerts triggered during falls or when a user exits the defined geofence. </a:t>
          </a:r>
        </a:p>
      </dsp:txBody>
      <dsp:txXfrm>
        <a:off x="33127" y="3609307"/>
        <a:ext cx="6600579" cy="612346"/>
      </dsp:txXfrm>
    </dsp:sp>
    <dsp:sp modelId="{54C91126-662B-479E-9F50-2849EE0DCEE5}">
      <dsp:nvSpPr>
        <dsp:cNvPr id="0" name=""/>
        <dsp:cNvSpPr/>
      </dsp:nvSpPr>
      <dsp:spPr>
        <a:xfrm>
          <a:off x="0" y="4269180"/>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Wi‑Fi enabled live monitoring dashboard for caregivers. </a:t>
          </a:r>
        </a:p>
      </dsp:txBody>
      <dsp:txXfrm>
        <a:off x="33127" y="4302307"/>
        <a:ext cx="6600579" cy="612346"/>
      </dsp:txXfrm>
    </dsp:sp>
    <dsp:sp modelId="{97AB5348-DA91-431E-B38D-8AB62F290D88}">
      <dsp:nvSpPr>
        <dsp:cNvPr id="0" name=""/>
        <dsp:cNvSpPr/>
      </dsp:nvSpPr>
      <dsp:spPr>
        <a:xfrm>
          <a:off x="0" y="4962180"/>
          <a:ext cx="6666833" cy="6786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Secure storage of the last known location for each user to ensure traceability.</a:t>
          </a:r>
        </a:p>
      </dsp:txBody>
      <dsp:txXfrm>
        <a:off x="33127" y="4995307"/>
        <a:ext cx="6600579" cy="6123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A2BF8-3B96-03FD-78D1-BCE1E6A0C2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D4F32B-3618-A78E-BCF4-7D14B532DC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B93350-CFE7-F68A-96F9-91AC679FF51E}"/>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40D0C126-F0EC-9FE6-21D5-B92BBC7877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21D4E9-9A31-E20D-08C9-BA6A38CD946B}"/>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428622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2FFE7-5F59-EBC3-B355-16253CF235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B10F9A-365E-FFCF-D4F6-EA3234175A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F3D81-A52E-CCBD-C333-9F04E61BFA30}"/>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FAD51EA4-4113-683E-7B44-CFA3EDEE9F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47499F-34FF-DB1F-982F-AB18A029BE02}"/>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419155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8E42-B9D5-F5D1-1FF2-80DC2F01CB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D2666A-4D61-D0D0-7845-140F66E93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8791BC-8A12-A77D-DFC8-B4AC95476847}"/>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F8C768D9-F8F1-3956-17BD-AA75C2B968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3454B-09E0-B789-90F1-B7B7EFC53278}"/>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416994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A581-A847-6029-540E-AC1FFEDA0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163850-9803-B50D-162F-83A4DB5836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845B1B-CA01-E24B-CE9B-FB9B0B3384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A643F9-09FC-95BF-CDCC-76162CEFA164}"/>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6" name="Footer Placeholder 5">
            <a:extLst>
              <a:ext uri="{FF2B5EF4-FFF2-40B4-BE49-F238E27FC236}">
                <a16:creationId xmlns:a16="http://schemas.microsoft.com/office/drawing/2014/main" id="{18BE5E5C-54D4-EBBB-5075-542B6F7AC4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5EFDFE-DD43-5A81-8D73-9E71F5B8540D}"/>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3471762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E530E-0B26-BE6F-E171-8AAEE7A8D0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BAEF3A-83F0-58FB-E6E9-5F2D2846E8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5A4F5D-3884-9E97-B5C6-C245F3A0B5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5F24B6-48B5-8A04-7C22-4F3FC04312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0A9DBC-7C69-75D4-2431-5804F1E7F0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5F903F-8F55-61AB-E1BF-11A9BD9C7D8F}"/>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8" name="Footer Placeholder 7">
            <a:extLst>
              <a:ext uri="{FF2B5EF4-FFF2-40B4-BE49-F238E27FC236}">
                <a16:creationId xmlns:a16="http://schemas.microsoft.com/office/drawing/2014/main" id="{4B033AC5-7834-4321-10A4-1E7E73015E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D0CAB1-79F3-1EAA-37FA-5419081A22A5}"/>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633668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D4B-5E7F-49AA-DE53-42D9C5A435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C3B306-512C-6F15-3679-A6E7D402990E}"/>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4" name="Footer Placeholder 3">
            <a:extLst>
              <a:ext uri="{FF2B5EF4-FFF2-40B4-BE49-F238E27FC236}">
                <a16:creationId xmlns:a16="http://schemas.microsoft.com/office/drawing/2014/main" id="{A096530F-2FBD-1B71-1AC7-676E416F59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88C184-A987-CC25-071A-A5536B75B069}"/>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216665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D08AF4-75E9-DC5B-5781-473589909759}"/>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3" name="Footer Placeholder 2">
            <a:extLst>
              <a:ext uri="{FF2B5EF4-FFF2-40B4-BE49-F238E27FC236}">
                <a16:creationId xmlns:a16="http://schemas.microsoft.com/office/drawing/2014/main" id="{22E3A28B-965D-9C3C-26FE-8EF9A4E29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EB1698-CB99-9AD4-2822-513AB0C3BCF1}"/>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522970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9EAE-ECEA-32B7-5BD4-65A41963E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05FB7D-477A-ABC4-772A-95EBDD3477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3C41E6-2C85-94B6-1ED6-FD6984098B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9C60A-08F7-815E-2574-098B8901C82C}"/>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6" name="Footer Placeholder 5">
            <a:extLst>
              <a:ext uri="{FF2B5EF4-FFF2-40B4-BE49-F238E27FC236}">
                <a16:creationId xmlns:a16="http://schemas.microsoft.com/office/drawing/2014/main" id="{167A8E89-051B-794B-7D84-FC997EBC45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DCBDC6-F12D-BA87-FAFB-758FCE7A44F2}"/>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2054038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C8EC-0B5B-0BFF-6499-1D83AFA55A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EF4733-6E52-A55B-F8B0-5550D5C353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55F0A6-67CB-41C9-C6A1-31DD9C481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FAF80F-6D6F-BA87-8884-56AF765B1066}"/>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6" name="Footer Placeholder 5">
            <a:extLst>
              <a:ext uri="{FF2B5EF4-FFF2-40B4-BE49-F238E27FC236}">
                <a16:creationId xmlns:a16="http://schemas.microsoft.com/office/drawing/2014/main" id="{3DBFC91D-EA33-5542-F49C-EB49A21627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1C677A-B160-DB3F-2CAF-1CA00DCC935A}"/>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2343096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4228-4512-C783-7640-B615D7227F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E5E604-0AEC-FBE6-2BF4-16DFD5EF1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0A7A91-D504-69BE-474A-6DEE60126356}"/>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4FF97F06-050F-27F8-EE0C-53B05B0A89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442532-AC7D-1C30-6B9C-96DE042EC834}"/>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3951932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C14499-433C-5D4D-B431-EE389FD223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3615F4-2D71-F2C8-BF95-AD49BD3254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9E0496-09C1-D7BD-2C41-85900B1365AC}"/>
              </a:ext>
            </a:extLst>
          </p:cNvPr>
          <p:cNvSpPr>
            <a:spLocks noGrp="1"/>
          </p:cNvSpPr>
          <p:nvPr>
            <p:ph type="dt" sz="half" idx="10"/>
          </p:nvPr>
        </p:nvSpPr>
        <p:spPr/>
        <p:txBody>
          <a:body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93216C86-95F8-1898-AAA4-5582655DE9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AA3A9E-5738-D4D5-EA2D-236EAB49D5E7}"/>
              </a:ext>
            </a:extLst>
          </p:cNvPr>
          <p:cNvSpPr>
            <a:spLocks noGrp="1"/>
          </p:cNvSpPr>
          <p:nvPr>
            <p:ph type="sldNum" sz="quarter" idx="12"/>
          </p:nvPr>
        </p:nvSpPr>
        <p:spPr/>
        <p:txBody>
          <a:bodyPr/>
          <a:lstStyle/>
          <a:p>
            <a:fld id="{F643C659-D319-4C33-9B3F-08D6824809F1}" type="slidenum">
              <a:rPr lang="en-IN" smtClean="0"/>
              <a:t>‹#›</a:t>
            </a:fld>
            <a:endParaRPr lang="en-IN"/>
          </a:p>
        </p:txBody>
      </p:sp>
    </p:spTree>
    <p:extLst>
      <p:ext uri="{BB962C8B-B14F-4D97-AF65-F5344CB8AC3E}">
        <p14:creationId xmlns:p14="http://schemas.microsoft.com/office/powerpoint/2010/main" val="349449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2D607A-9974-04DA-6A1D-A195D49C32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6B3090-523F-B813-7FB2-44DAA62AF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C8DE74-3722-2F01-2DCD-212EA1911C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36DD2-C4AD-47DA-8DD3-4852C3DA2F7B}" type="datetimeFigureOut">
              <a:rPr lang="en-IN" smtClean="0"/>
              <a:t>08-04-2026</a:t>
            </a:fld>
            <a:endParaRPr lang="en-IN"/>
          </a:p>
        </p:txBody>
      </p:sp>
      <p:sp>
        <p:nvSpPr>
          <p:cNvPr id="5" name="Footer Placeholder 4">
            <a:extLst>
              <a:ext uri="{FF2B5EF4-FFF2-40B4-BE49-F238E27FC236}">
                <a16:creationId xmlns:a16="http://schemas.microsoft.com/office/drawing/2014/main" id="{653AB5A8-129F-F5BD-AE8C-BE62C102D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A1913C-5ABE-5FF4-4D65-3C9FC0028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43C659-D319-4C33-9B3F-08D6824809F1}" type="slidenum">
              <a:rPr lang="en-IN" smtClean="0"/>
              <a:t>‹#›</a:t>
            </a:fld>
            <a:endParaRPr lang="en-IN"/>
          </a:p>
        </p:txBody>
      </p:sp>
    </p:spTree>
    <p:extLst>
      <p:ext uri="{BB962C8B-B14F-4D97-AF65-F5344CB8AC3E}">
        <p14:creationId xmlns:p14="http://schemas.microsoft.com/office/powerpoint/2010/main" val="394775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0B2DE8-4DC6-F28B-5875-C5B2617C414C}"/>
              </a:ext>
            </a:extLst>
          </p:cNvPr>
          <p:cNvSpPr>
            <a:spLocks noGrp="1"/>
          </p:cNvSpPr>
          <p:nvPr>
            <p:ph type="ctrTitle"/>
          </p:nvPr>
        </p:nvSpPr>
        <p:spPr>
          <a:xfrm>
            <a:off x="1314824" y="735106"/>
            <a:ext cx="10053763" cy="2928470"/>
          </a:xfrm>
        </p:spPr>
        <p:txBody>
          <a:bodyPr anchor="b">
            <a:normAutofit/>
          </a:bodyPr>
          <a:lstStyle/>
          <a:p>
            <a:pPr algn="l"/>
            <a:r>
              <a:rPr lang="en-IN" sz="4800" b="1" dirty="0">
                <a:solidFill>
                  <a:srgbClr val="FFFFFF"/>
                </a:solidFill>
                <a:latin typeface="Times New Roman" panose="02020603050405020304" pitchFamily="18" charset="0"/>
                <a:cs typeface="Times New Roman" panose="02020603050405020304" pitchFamily="18" charset="0"/>
              </a:rPr>
              <a:t>Smart Safety and Tracking System for Dementia Patients using IoT</a:t>
            </a:r>
          </a:p>
        </p:txBody>
      </p:sp>
      <p:sp>
        <p:nvSpPr>
          <p:cNvPr id="3" name="Subtitle 2">
            <a:extLst>
              <a:ext uri="{FF2B5EF4-FFF2-40B4-BE49-F238E27FC236}">
                <a16:creationId xmlns:a16="http://schemas.microsoft.com/office/drawing/2014/main" id="{36AA1928-551E-4A41-5E8E-916990B37FEB}"/>
              </a:ext>
            </a:extLst>
          </p:cNvPr>
          <p:cNvSpPr>
            <a:spLocks noGrp="1"/>
          </p:cNvSpPr>
          <p:nvPr>
            <p:ph type="subTitle" idx="1"/>
          </p:nvPr>
        </p:nvSpPr>
        <p:spPr>
          <a:xfrm>
            <a:off x="6781800" y="4859866"/>
            <a:ext cx="5159033" cy="1765549"/>
          </a:xfrm>
        </p:spPr>
        <p:txBody>
          <a:bodyPr anchor="ctr">
            <a:normAutofit/>
          </a:bodyPr>
          <a:lstStyle/>
          <a:p>
            <a:pPr algn="l"/>
            <a:r>
              <a:rPr lang="en-IN" dirty="0">
                <a:latin typeface="Times New Roman" panose="02020603050405020304" pitchFamily="18" charset="0"/>
                <a:cs typeface="Times New Roman" panose="02020603050405020304" pitchFamily="18" charset="0"/>
              </a:rPr>
              <a:t>Team–  1.Shreya Singh – 23BEE1053</a:t>
            </a:r>
          </a:p>
          <a:p>
            <a:pPr algn="l"/>
            <a:r>
              <a:rPr lang="en-IN" dirty="0">
                <a:latin typeface="Times New Roman" panose="02020603050405020304" pitchFamily="18" charset="0"/>
                <a:cs typeface="Times New Roman" panose="02020603050405020304" pitchFamily="18" charset="0"/>
              </a:rPr>
              <a:t>	 2.Tanuj Rai – 23BEE1086</a:t>
            </a:r>
          </a:p>
          <a:p>
            <a:pPr algn="l"/>
            <a:endParaRPr lang="en-IN" dirty="0">
              <a:latin typeface="Times New Roman" panose="02020603050405020304" pitchFamily="18" charset="0"/>
              <a:cs typeface="Times New Roman" panose="02020603050405020304" pitchFamily="18" charset="0"/>
            </a:endParaRPr>
          </a:p>
          <a:p>
            <a:pPr algn="l"/>
            <a:endParaRPr lang="en-IN" dirty="0"/>
          </a:p>
        </p:txBody>
      </p:sp>
    </p:spTree>
    <p:extLst>
      <p:ext uri="{BB962C8B-B14F-4D97-AF65-F5344CB8AC3E}">
        <p14:creationId xmlns:p14="http://schemas.microsoft.com/office/powerpoint/2010/main" val="4188085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3" name="Rectangle 6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0F524B-1AF5-923D-636C-DAB52533F022}"/>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b="1" kern="1200" dirty="0">
                <a:solidFill>
                  <a:srgbClr val="FFFFFF"/>
                </a:solidFill>
                <a:latin typeface="Times New Roman" panose="02020603050405020304" pitchFamily="18" charset="0"/>
                <a:cs typeface="Times New Roman" panose="02020603050405020304" pitchFamily="18" charset="0"/>
              </a:rPr>
              <a:t>Problem Statement</a:t>
            </a:r>
            <a:endParaRPr lang="en-US" sz="4000" b="1" kern="1200">
              <a:solidFill>
                <a:srgbClr val="FFFFFF"/>
              </a:solidFill>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FA86B2E7-36E8-738F-2FB0-356D5E765888}"/>
              </a:ext>
            </a:extLst>
          </p:cNvPr>
          <p:cNvGraphicFramePr>
            <a:graphicFrameLocks noGrp="1"/>
          </p:cNvGraphicFramePr>
          <p:nvPr>
            <p:ph idx="1"/>
            <p:extLst>
              <p:ext uri="{D42A27DB-BD31-4B8C-83A1-F6EECF244321}">
                <p14:modId xmlns:p14="http://schemas.microsoft.com/office/powerpoint/2010/main" val="1157883465"/>
              </p:ext>
            </p:extLst>
          </p:nvPr>
        </p:nvGraphicFramePr>
        <p:xfrm>
          <a:off x="5179877" y="750440"/>
          <a:ext cx="6117183" cy="5412660"/>
        </p:xfrm>
        <a:graphic>
          <a:graphicData uri="http://schemas.openxmlformats.org/drawingml/2006/table">
            <a:tbl>
              <a:tblPr/>
              <a:tblGrid>
                <a:gridCol w="6117183">
                  <a:extLst>
                    <a:ext uri="{9D8B030D-6E8A-4147-A177-3AD203B41FA5}">
                      <a16:colId xmlns:a16="http://schemas.microsoft.com/office/drawing/2014/main" val="962094554"/>
                    </a:ext>
                  </a:extLst>
                </a:gridCol>
              </a:tblGrid>
              <a:tr h="4321282">
                <a:tc>
                  <a:txBody>
                    <a:bodyPr/>
                    <a:lstStyle/>
                    <a:p>
                      <a:pPr algn="just" fontAlgn="t">
                        <a:lnSpc>
                          <a:spcPct val="100000"/>
                        </a:lnSpc>
                        <a:buNone/>
                      </a:pPr>
                      <a:r>
                        <a:rPr lang="en-US" sz="2400" b="0" i="0" u="none" strike="noStrike" dirty="0">
                          <a:effectLst/>
                          <a:latin typeface="Times New Roman" panose="02020603050405020304" pitchFamily="18" charset="0"/>
                          <a:cs typeface="Times New Roman" panose="02020603050405020304" pitchFamily="18" charset="0"/>
                        </a:rPr>
                        <a:t>Real-time monitoring of elderly patients remains a significant challenge, especially in non-clinical environments. Continuous supervision by caregivers is impractical due to time, cost, and manpower constraints. Accidental falls may go undetected, leading to delayed medical assistance and increased health risks. Affordable solutions supporting both indoor and outdoor geofencing are limited. Existing systems offer minimal support for tracking multiple users simultaneously. Most available solutions are costly, complex, and difficult to deploy for everyday use.</a:t>
                      </a:r>
                    </a:p>
                  </a:txBody>
                  <a:tcPr marL="122497" marR="122497" marT="61248" marB="61248">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602085406"/>
                  </a:ext>
                </a:extLst>
              </a:tr>
              <a:tr h="535284">
                <a:tc>
                  <a:txBody>
                    <a:bodyPr/>
                    <a:lstStyle/>
                    <a:p>
                      <a:pPr algn="just" fontAlgn="t">
                        <a:buNone/>
                      </a:pPr>
                      <a:endParaRPr lang="en-US" sz="2400" b="0" i="0" u="none" strike="noStrike" dirty="0">
                        <a:effectLst/>
                        <a:latin typeface="Arial" panose="020B0604020202020204" pitchFamily="34" charset="0"/>
                      </a:endParaRPr>
                    </a:p>
                  </a:txBody>
                  <a:tcPr marL="122497" marR="122497" marT="61248" marB="61248">
                    <a:lnL>
                      <a:noFill/>
                    </a:lnL>
                    <a:lnR>
                      <a:noFill/>
                    </a:lnR>
                    <a:lnT w="7620" cap="flat" cmpd="sng" algn="ctr">
                      <a:solidFill>
                        <a:srgbClr val="E6E6E6"/>
                      </a:solidFill>
                      <a:prstDash val="solid"/>
                      <a:round/>
                      <a:headEnd type="none" w="med" len="med"/>
                      <a:tailEnd type="none" w="med" len="med"/>
                    </a:lnT>
                    <a:lnB>
                      <a:noFill/>
                    </a:lnB>
                    <a:noFill/>
                  </a:tcPr>
                </a:tc>
                <a:extLst>
                  <a:ext uri="{0D108BD9-81ED-4DB2-BD59-A6C34878D82A}">
                    <a16:rowId xmlns:a16="http://schemas.microsoft.com/office/drawing/2014/main" val="2648111233"/>
                  </a:ext>
                </a:extLst>
              </a:tr>
            </a:tbl>
          </a:graphicData>
        </a:graphic>
      </p:graphicFrame>
    </p:spTree>
    <p:extLst>
      <p:ext uri="{BB962C8B-B14F-4D97-AF65-F5344CB8AC3E}">
        <p14:creationId xmlns:p14="http://schemas.microsoft.com/office/powerpoint/2010/main" val="404600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BEC2C7-3B9D-27F9-7A1B-F32E5FAD6124}"/>
              </a:ext>
            </a:extLst>
          </p:cNvPr>
          <p:cNvSpPr>
            <a:spLocks noGrp="1"/>
          </p:cNvSpPr>
          <p:nvPr>
            <p:ph type="title"/>
          </p:nvPr>
        </p:nvSpPr>
        <p:spPr>
          <a:xfrm>
            <a:off x="586478" y="1683756"/>
            <a:ext cx="3115265" cy="2396359"/>
          </a:xfrm>
        </p:spPr>
        <p:txBody>
          <a:bodyPr anchor="b">
            <a:normAutofit/>
          </a:bodyPr>
          <a:lstStyle/>
          <a:p>
            <a:pPr algn="r"/>
            <a:r>
              <a:rPr lang="en-IN" sz="4000" b="1">
                <a:solidFill>
                  <a:srgbClr val="FFFFFF"/>
                </a:solidFill>
                <a:latin typeface="Times New Roman" panose="02020603050405020304" pitchFamily="18" charset="0"/>
                <a:cs typeface="Times New Roman" panose="02020603050405020304" pitchFamily="18" charset="0"/>
              </a:rPr>
              <a:t>Proposed Solution</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44DE990F-BD9E-4388-614F-6D66EBF32674}"/>
              </a:ext>
            </a:extLst>
          </p:cNvPr>
          <p:cNvGraphicFramePr>
            <a:graphicFrameLocks noGrp="1"/>
          </p:cNvGraphicFramePr>
          <p:nvPr>
            <p:ph idx="1"/>
            <p:extLst>
              <p:ext uri="{D42A27DB-BD31-4B8C-83A1-F6EECF244321}">
                <p14:modId xmlns:p14="http://schemas.microsoft.com/office/powerpoint/2010/main" val="4215462253"/>
              </p:ext>
            </p:extLst>
          </p:nvPr>
        </p:nvGraphicFramePr>
        <p:xfrm>
          <a:off x="4905052" y="750440"/>
          <a:ext cx="6666833" cy="57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8001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Rectangle 3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E1590-7B54-2953-CD12-E5D4809FEA94}"/>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latin typeface="Times New Roman" panose="02020603050405020304" pitchFamily="18" charset="0"/>
                <a:cs typeface="Times New Roman" panose="02020603050405020304" pitchFamily="18" charset="0"/>
              </a:rPr>
              <a:t>Working Principle</a:t>
            </a:r>
            <a:endParaRPr lang="en-IN" sz="4000">
              <a:solidFill>
                <a:srgbClr val="FFFFFF"/>
              </a:solidFill>
            </a:endParaRPr>
          </a:p>
        </p:txBody>
      </p:sp>
      <p:sp>
        <p:nvSpPr>
          <p:cNvPr id="3" name="Content Placeholder 2">
            <a:extLst>
              <a:ext uri="{FF2B5EF4-FFF2-40B4-BE49-F238E27FC236}">
                <a16:creationId xmlns:a16="http://schemas.microsoft.com/office/drawing/2014/main" id="{809461D2-8D5F-C479-B18A-E5D6B6770834}"/>
              </a:ext>
            </a:extLst>
          </p:cNvPr>
          <p:cNvSpPr>
            <a:spLocks noGrp="1"/>
          </p:cNvSpPr>
          <p:nvPr>
            <p:ph idx="1"/>
          </p:nvPr>
        </p:nvSpPr>
        <p:spPr>
          <a:xfrm>
            <a:off x="4504548" y="430783"/>
            <a:ext cx="7611741" cy="3699640"/>
          </a:xfrm>
        </p:spPr>
        <p:txBody>
          <a:bodyPr anchor="ctr">
            <a:normAutofit lnSpcReduction="10000"/>
          </a:bodyPr>
          <a:lstStyle/>
          <a:p>
            <a:pPr algn="just"/>
            <a:r>
              <a:rPr lang="en-US" sz="2400" dirty="0">
                <a:latin typeface="Times New Roman" panose="02020603050405020304" pitchFamily="18" charset="0"/>
                <a:cs typeface="Times New Roman" panose="02020603050405020304" pitchFamily="18" charset="0"/>
              </a:rPr>
              <a:t>A low-cost, reliable, and efficient smart safety monitoring system was successfully designed and implemented. </a:t>
            </a:r>
          </a:p>
          <a:p>
            <a:pPr algn="just"/>
            <a:r>
              <a:rPr lang="en-US" sz="2400" dirty="0">
                <a:latin typeface="Times New Roman" panose="02020603050405020304" pitchFamily="18" charset="0"/>
                <a:cs typeface="Times New Roman" panose="02020603050405020304" pitchFamily="18" charset="0"/>
              </a:rPr>
              <a:t>The system enables real-time location tracking, fall detection, and geofencing for elderly and patient safety. </a:t>
            </a:r>
          </a:p>
          <a:p>
            <a:pPr algn="just"/>
            <a:r>
              <a:rPr lang="en-US" sz="2400" dirty="0">
                <a:latin typeface="Times New Roman" panose="02020603050405020304" pitchFamily="18" charset="0"/>
                <a:cs typeface="Times New Roman" panose="02020603050405020304" pitchFamily="18" charset="0"/>
              </a:rPr>
              <a:t>Wireless connectivity allows caregivers to remotely monitor users without continuous physical supervision. </a:t>
            </a:r>
          </a:p>
          <a:p>
            <a:pPr algn="just"/>
            <a:r>
              <a:rPr lang="en-US" sz="2400" dirty="0">
                <a:latin typeface="Times New Roman" panose="02020603050405020304" pitchFamily="18" charset="0"/>
                <a:cs typeface="Times New Roman" panose="02020603050405020304" pitchFamily="18" charset="0"/>
              </a:rPr>
              <a:t>The solution is scalable for multi-user tracking and suitable for both indoor and outdoor environments.</a:t>
            </a:r>
          </a:p>
          <a:p>
            <a:pPr algn="just"/>
            <a:r>
              <a:rPr lang="en-US" sz="2400" dirty="0">
                <a:latin typeface="Times New Roman" panose="02020603050405020304" pitchFamily="18" charset="0"/>
                <a:cs typeface="Times New Roman" panose="02020603050405020304" pitchFamily="18" charset="0"/>
              </a:rPr>
              <a:t> This system provides an effective and practical approach to improving patient safety using IoT technology.</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98EFB66-FD23-3B67-6681-726548FC882C}"/>
              </a:ext>
            </a:extLst>
          </p:cNvPr>
          <p:cNvSpPr txBox="1"/>
          <p:nvPr/>
        </p:nvSpPr>
        <p:spPr>
          <a:xfrm>
            <a:off x="7675033" y="6370865"/>
            <a:ext cx="39243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1- Complete setup of the prototype</a:t>
            </a:r>
          </a:p>
        </p:txBody>
      </p:sp>
      <p:pic>
        <p:nvPicPr>
          <p:cNvPr id="7" name="Picture 6">
            <a:extLst>
              <a:ext uri="{FF2B5EF4-FFF2-40B4-BE49-F238E27FC236}">
                <a16:creationId xmlns:a16="http://schemas.microsoft.com/office/drawing/2014/main" id="{40ED24B0-5188-92C5-7709-7FEB66C885D5}"/>
              </a:ext>
            </a:extLst>
          </p:cNvPr>
          <p:cNvPicPr>
            <a:picLocks noChangeAspect="1"/>
          </p:cNvPicPr>
          <p:nvPr/>
        </p:nvPicPr>
        <p:blipFill>
          <a:blip r:embed="rId2">
            <a:extLst>
              <a:ext uri="{28A0092B-C50C-407E-A947-70E740481C1C}">
                <a14:useLocalDpi xmlns:a14="http://schemas.microsoft.com/office/drawing/2010/main" val="0"/>
              </a:ext>
            </a:extLst>
          </a:blip>
          <a:srcRect t="8759"/>
          <a:stretch>
            <a:fillRect/>
          </a:stretch>
        </p:blipFill>
        <p:spPr>
          <a:xfrm rot="5400000">
            <a:off x="8449206" y="3282813"/>
            <a:ext cx="2375937" cy="3924300"/>
          </a:xfrm>
          <a:prstGeom prst="rect">
            <a:avLst/>
          </a:prstGeom>
        </p:spPr>
      </p:pic>
    </p:spTree>
    <p:extLst>
      <p:ext uri="{BB962C8B-B14F-4D97-AF65-F5344CB8AC3E}">
        <p14:creationId xmlns:p14="http://schemas.microsoft.com/office/powerpoint/2010/main" val="3919718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4E4D19-F902-3FA3-4251-CE43B4F51DD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E8ADCC9-6CF1-444C-D384-6B1C9508DB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F188E26-AE17-09E2-3055-2D3ED09FD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AB3F3B9-9F2B-B6B3-B53B-173C4306C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DBCF152-1E90-5889-5949-1E1DE13755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94B97CD3-DE63-578F-B6DA-D2CFEE7A9E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Rectangle 30">
            <a:extLst>
              <a:ext uri="{FF2B5EF4-FFF2-40B4-BE49-F238E27FC236}">
                <a16:creationId xmlns:a16="http://schemas.microsoft.com/office/drawing/2014/main" id="{E2CB93F8-2893-ECB7-D17D-E28881FF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197B0-7A76-3112-CCA2-ED91BB45D8E7}"/>
              </a:ext>
            </a:extLst>
          </p:cNvPr>
          <p:cNvSpPr>
            <a:spLocks noGrp="1"/>
          </p:cNvSpPr>
          <p:nvPr>
            <p:ph type="title"/>
          </p:nvPr>
        </p:nvSpPr>
        <p:spPr>
          <a:xfrm>
            <a:off x="466722" y="586855"/>
            <a:ext cx="3201366" cy="3387497"/>
          </a:xfrm>
        </p:spPr>
        <p:txBody>
          <a:bodyPr anchor="b">
            <a:normAutofit/>
          </a:bodyPr>
          <a:lstStyle/>
          <a:p>
            <a:pPr algn="r"/>
            <a:r>
              <a:rPr lang="en-IN" sz="4000" b="1" dirty="0">
                <a:solidFill>
                  <a:schemeClr val="bg1"/>
                </a:solidFill>
                <a:latin typeface="Times New Roman" panose="02020603050405020304" pitchFamily="18" charset="0"/>
                <a:cs typeface="Times New Roman" panose="02020603050405020304" pitchFamily="18" charset="0"/>
              </a:rPr>
              <a:t>Results and Conclusion </a:t>
            </a:r>
            <a:endParaRPr lang="en-IN" sz="4000" dirty="0">
              <a:solidFill>
                <a:schemeClr val="bg1"/>
              </a:solidFill>
            </a:endParaRPr>
          </a:p>
        </p:txBody>
      </p:sp>
      <p:sp>
        <p:nvSpPr>
          <p:cNvPr id="3" name="Content Placeholder 2">
            <a:extLst>
              <a:ext uri="{FF2B5EF4-FFF2-40B4-BE49-F238E27FC236}">
                <a16:creationId xmlns:a16="http://schemas.microsoft.com/office/drawing/2014/main" id="{F5DB24B2-D822-0EA0-728D-9B825BBB5E8D}"/>
              </a:ext>
            </a:extLst>
          </p:cNvPr>
          <p:cNvSpPr>
            <a:spLocks noGrp="1"/>
          </p:cNvSpPr>
          <p:nvPr>
            <p:ph idx="1"/>
          </p:nvPr>
        </p:nvSpPr>
        <p:spPr>
          <a:xfrm>
            <a:off x="4037826" y="301451"/>
            <a:ext cx="3868217" cy="6546411"/>
          </a:xfrm>
        </p:spPr>
        <p:txBody>
          <a:bodyPr anchor="ct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A low-cost, reliable, and efficient smart safety monitoring system was successfully designed and implemented. </a:t>
            </a:r>
          </a:p>
          <a:p>
            <a:pPr algn="just"/>
            <a:r>
              <a:rPr lang="en-US" sz="2400" dirty="0">
                <a:latin typeface="Times New Roman" panose="02020603050405020304" pitchFamily="18" charset="0"/>
                <a:cs typeface="Times New Roman" panose="02020603050405020304" pitchFamily="18" charset="0"/>
              </a:rPr>
              <a:t>The system enables real-time location tracking, fall detection, and geofencing for elderly and patient safety. </a:t>
            </a:r>
          </a:p>
          <a:p>
            <a:pPr algn="just"/>
            <a:r>
              <a:rPr lang="en-US" sz="2400" dirty="0">
                <a:latin typeface="Times New Roman" panose="02020603050405020304" pitchFamily="18" charset="0"/>
                <a:cs typeface="Times New Roman" panose="02020603050405020304" pitchFamily="18" charset="0"/>
              </a:rPr>
              <a:t>Wireless connectivity allows caregivers to remotely monitor users without continuous physical supervision. </a:t>
            </a:r>
          </a:p>
          <a:p>
            <a:pPr algn="just"/>
            <a:r>
              <a:rPr lang="en-US" sz="2400" dirty="0">
                <a:latin typeface="Times New Roman" panose="02020603050405020304" pitchFamily="18" charset="0"/>
                <a:cs typeface="Times New Roman" panose="02020603050405020304" pitchFamily="18" charset="0"/>
              </a:rPr>
              <a:t>The solution is scalable for multi-user tracking and suitable for both indoor and outdoor environments.</a:t>
            </a:r>
          </a:p>
          <a:p>
            <a:pPr algn="just"/>
            <a:r>
              <a:rPr lang="en-US" sz="2400" dirty="0">
                <a:latin typeface="Times New Roman" panose="02020603050405020304" pitchFamily="18" charset="0"/>
                <a:cs typeface="Times New Roman" panose="02020603050405020304" pitchFamily="18" charset="0"/>
              </a:rPr>
              <a:t> This system provides an effective and practical approach to improving patient safety using IoT technology.</a:t>
            </a:r>
            <a:endParaRPr lang="en-IN" sz="2400"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AD4B6FFC-AC93-68E0-6081-DB7B8A245475}"/>
              </a:ext>
            </a:extLst>
          </p:cNvPr>
          <p:cNvGrpSpPr/>
          <p:nvPr/>
        </p:nvGrpSpPr>
        <p:grpSpPr>
          <a:xfrm>
            <a:off x="7906043" y="291313"/>
            <a:ext cx="4161079" cy="6546411"/>
            <a:chOff x="8087237" y="190919"/>
            <a:chExt cx="4012641" cy="6695350"/>
          </a:xfrm>
        </p:grpSpPr>
        <p:pic>
          <p:nvPicPr>
            <p:cNvPr id="6" name="Picture 5">
              <a:extLst>
                <a:ext uri="{FF2B5EF4-FFF2-40B4-BE49-F238E27FC236}">
                  <a16:creationId xmlns:a16="http://schemas.microsoft.com/office/drawing/2014/main" id="{DF662067-5F00-BF63-FD70-B07922FDD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9358" y="190919"/>
              <a:ext cx="3828400" cy="2753248"/>
            </a:xfrm>
            <a:prstGeom prst="rect">
              <a:avLst/>
            </a:prstGeom>
          </p:spPr>
        </p:pic>
        <p:pic>
          <p:nvPicPr>
            <p:cNvPr id="7" name="Content Placeholder 4">
              <a:extLst>
                <a:ext uri="{FF2B5EF4-FFF2-40B4-BE49-F238E27FC236}">
                  <a16:creationId xmlns:a16="http://schemas.microsoft.com/office/drawing/2014/main" id="{A169157B-E26B-8056-B827-EBB199FD5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7237" y="3284873"/>
              <a:ext cx="4012641" cy="3260690"/>
            </a:xfrm>
            <a:prstGeom prst="rect">
              <a:avLst/>
            </a:prstGeom>
          </p:spPr>
        </p:pic>
        <p:sp>
          <p:nvSpPr>
            <p:cNvPr id="8" name="TextBox 7">
              <a:extLst>
                <a:ext uri="{FF2B5EF4-FFF2-40B4-BE49-F238E27FC236}">
                  <a16:creationId xmlns:a16="http://schemas.microsoft.com/office/drawing/2014/main" id="{A2B5FF51-0D24-FB50-5705-8401792F990F}"/>
                </a:ext>
              </a:extLst>
            </p:cNvPr>
            <p:cNvSpPr txBox="1"/>
            <p:nvPr/>
          </p:nvSpPr>
          <p:spPr>
            <a:xfrm>
              <a:off x="8087237" y="2944167"/>
              <a:ext cx="2435090" cy="369332"/>
            </a:xfrm>
            <a:prstGeom prst="rect">
              <a:avLst/>
            </a:prstGeom>
            <a:noFill/>
          </p:spPr>
          <p:txBody>
            <a:bodyPr wrap="none" rtlCol="0">
              <a:spAutoFit/>
            </a:bodyPr>
            <a:lstStyle/>
            <a:p>
              <a:r>
                <a:rPr lang="en-IN" dirty="0"/>
                <a:t>Fig 2: Geofencing Result</a:t>
              </a:r>
            </a:p>
          </p:txBody>
        </p:sp>
        <p:sp>
          <p:nvSpPr>
            <p:cNvPr id="10" name="TextBox 9">
              <a:extLst>
                <a:ext uri="{FF2B5EF4-FFF2-40B4-BE49-F238E27FC236}">
                  <a16:creationId xmlns:a16="http://schemas.microsoft.com/office/drawing/2014/main" id="{822605DF-0BF9-F5B1-B361-83B9C81EE66D}"/>
                </a:ext>
              </a:extLst>
            </p:cNvPr>
            <p:cNvSpPr txBox="1"/>
            <p:nvPr/>
          </p:nvSpPr>
          <p:spPr>
            <a:xfrm>
              <a:off x="8087237" y="6516937"/>
              <a:ext cx="2655342" cy="369332"/>
            </a:xfrm>
            <a:prstGeom prst="rect">
              <a:avLst/>
            </a:prstGeom>
            <a:noFill/>
          </p:spPr>
          <p:txBody>
            <a:bodyPr wrap="none" rtlCol="0">
              <a:spAutoFit/>
            </a:bodyPr>
            <a:lstStyle/>
            <a:p>
              <a:r>
                <a:rPr lang="en-IN" dirty="0"/>
                <a:t>Fig 3: Fall Detection Result</a:t>
              </a:r>
            </a:p>
          </p:txBody>
        </p:sp>
      </p:grpSp>
    </p:spTree>
    <p:extLst>
      <p:ext uri="{BB962C8B-B14F-4D97-AF65-F5344CB8AC3E}">
        <p14:creationId xmlns:p14="http://schemas.microsoft.com/office/powerpoint/2010/main" val="2490130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392</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Smart Safety and Tracking System for Dementia Patients using IoT</vt:lpstr>
      <vt:lpstr>Problem Statement</vt:lpstr>
      <vt:lpstr>Proposed Solution</vt:lpstr>
      <vt:lpstr>Working Principle</vt:lpstr>
      <vt:lpstr>Results and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Singh</dc:creator>
  <cp:lastModifiedBy>Tanuj Rai</cp:lastModifiedBy>
  <cp:revision>2</cp:revision>
  <dcterms:created xsi:type="dcterms:W3CDTF">2026-02-06T16:47:31Z</dcterms:created>
  <dcterms:modified xsi:type="dcterms:W3CDTF">2026-04-07T20:16:12Z</dcterms:modified>
</cp:coreProperties>
</file>